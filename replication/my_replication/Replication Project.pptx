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3"/>
  </p:notesMasterIdLst>
  <p:handoutMasterIdLst>
    <p:handoutMasterId r:id="rId14"/>
  </p:handoutMasterIdLst>
  <p:sldIdLst>
    <p:sldId id="256" r:id="rId5"/>
    <p:sldId id="257" r:id="rId6"/>
    <p:sldId id="1509" r:id="rId7"/>
    <p:sldId id="1515" r:id="rId8"/>
    <p:sldId id="263" r:id="rId9"/>
    <p:sldId id="265" r:id="rId10"/>
    <p:sldId id="151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BBB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58"/>
  </p:normalViewPr>
  <p:slideViewPr>
    <p:cSldViewPr snapToGrid="0">
      <p:cViewPr>
        <p:scale>
          <a:sx n="66" d="100"/>
          <a:sy n="66" d="100"/>
        </p:scale>
        <p:origin x="1330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7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8903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75569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6554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92F52-289F-20D6-EECC-2811BB7E1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F0E7D7-6AE1-54FB-CBE5-028A1C487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AD599A-955C-2927-A538-D80EE20283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DD18AC-D635-800D-F20A-707F02D7D5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2497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83C42-4D77-7097-E9FD-73EE1819F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6C9553-86FE-D407-5790-F4B69F5007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2D2E55-EA4C-E00A-6172-F74C5FE6C1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69962-62C2-0322-2BB4-D80D65714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2623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95142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anchor="t">
            <a:normAutofit/>
          </a:bodyPr>
          <a:lstStyle>
            <a:lvl1pPr algn="l">
              <a:defRPr sz="7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73553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7B902-09B5-4324-8310-59625360F035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2964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anchor="b">
            <a:normAutofit/>
          </a:bodyPr>
          <a:lstStyle>
            <a:lvl1pPr algn="l">
              <a:defRPr sz="7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8" y="4617138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91A11-88E2-4BD0-90A5-503C684B9CC0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7954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19A73-9EF0-435E-951F-A4ACE59FBD85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4959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72BE8CE-6011-4887-8688-8D57691F11AD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68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45300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86426EA-0386-4881-8D6D-3F08C95C4A7F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75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 anchor="t">
            <a:normAutofit/>
          </a:bodyPr>
          <a:lstStyle>
            <a:lvl1pPr algn="l">
              <a:defRPr sz="5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7160" y="6453002"/>
            <a:ext cx="1951777" cy="365125"/>
          </a:xfrm>
        </p:spPr>
        <p:txBody>
          <a:bodyPr/>
          <a:lstStyle/>
          <a:p>
            <a:fld id="{1FE1A989-42EF-40B2-87AB-6941C231CD4A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44578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20672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anchor="b">
            <a:normAutofit/>
          </a:bodyPr>
          <a:lstStyle>
            <a:lvl1pPr algn="l">
              <a:defRPr sz="7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2A7A0-B9EE-41A8-8016-28E5803F20B2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88095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anchor="b">
            <a:normAutofit/>
          </a:bodyPr>
          <a:lstStyle>
            <a:lvl1pPr algn="l">
              <a:defRPr sz="7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176" y="484632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2A7A0-B9EE-41A8-8016-28E5803F20B2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2793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60B404-9532-4DA8-8A40-EC339A5BE635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7208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161288"/>
            <a:ext cx="4663440" cy="155448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2825496"/>
            <a:ext cx="4663440" cy="333756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7999" y="6453002"/>
            <a:ext cx="1996689" cy="365125"/>
          </a:xfrm>
        </p:spPr>
        <p:txBody>
          <a:bodyPr/>
          <a:lstStyle/>
          <a:p>
            <a:fld id="{8A60B404-9532-4DA8-8A40-EC339A5BE635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526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" y="151598"/>
            <a:ext cx="11924209" cy="528186"/>
          </a:xfrm>
        </p:spPr>
        <p:txBody>
          <a:bodyPr anchor="ctr">
            <a:normAutofit/>
          </a:bodyPr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776036"/>
            <a:ext cx="11924209" cy="567696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6A364-A39C-470E-B89A-9BD899585684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51269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ctr">
            <a:normAutofit/>
          </a:bodyPr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367091"/>
            <a:ext cx="11924209" cy="612381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C69CE-4771-4BFA-AD70-0E51ABA58D6D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6518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E4242-8CA0-457D-B3B1-7D78B4164321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2030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D6F41-6645-4089-A6BB-7B692A44A4CC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7418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8B73AF-3955-4569-8B4F-B329360A9CBD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75640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5276D-BBED-48BC-B459-1E9A16CF46CD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45867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38C57-8E3B-4697-92F8-0ED9B71F7E17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47116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DC593-EA98-4C39-A75F-3F3A9C691019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6122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7" y="548640"/>
            <a:ext cx="6093225" cy="1143000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7" y="1828800"/>
            <a:ext cx="6071616" cy="448970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538937" y="6453002"/>
            <a:ext cx="3337584" cy="365125"/>
          </a:xfrm>
        </p:spPr>
        <p:txBody>
          <a:bodyPr/>
          <a:lstStyle/>
          <a:p>
            <a:fld id="{8FACD271-2BB0-4C13-9E3A-50B90F57CA5B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4929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6135624" cy="1143000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828800"/>
            <a:ext cx="6135624" cy="448970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9C4109C0-CC82-467C-B6E8-62D4D3634E2A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40470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5736" y="320040"/>
            <a:ext cx="6858000" cy="932688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45736" y="1380744"/>
            <a:ext cx="6858000" cy="498348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453002"/>
            <a:ext cx="3494314" cy="365125"/>
          </a:xfrm>
        </p:spPr>
        <p:txBody>
          <a:bodyPr/>
          <a:lstStyle/>
          <a:p>
            <a:fld id="{1A5F77D0-C28E-4573-88F0-0A30FF98888E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2171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0040"/>
            <a:ext cx="6858000" cy="932688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380744"/>
            <a:ext cx="6858000" cy="498348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D1F1191D-5EC4-40DF-9DB6-A6385AB88B55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197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8" y="584339"/>
            <a:ext cx="4361688" cy="1527048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5" y="2212975"/>
            <a:ext cx="4362450" cy="4095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453002"/>
            <a:ext cx="1622776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E468DAA-49F6-4492-82E6-75555EB31418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734474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4361688" cy="1527048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4360863" cy="4095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41D22668-A3AE-429F-A351-A1583BA90793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8008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3" y="320040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88" y="1380744"/>
            <a:ext cx="4512601" cy="498348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453002"/>
            <a:ext cx="177202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B3A2E2B-8F4D-437C-9F55-5E913AFC716A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121593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380744"/>
            <a:ext cx="4572000" cy="4983480"/>
          </a:xfrm>
        </p:spPr>
        <p:txBody>
          <a:bodyPr/>
          <a:lstStyle>
            <a:lvl1pPr marL="0" indent="0">
              <a:buNone/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46C70014-48FC-4647-9615-BBD39F98887D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18207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0" y="2212975"/>
            <a:ext cx="3401568" cy="4095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12663" y="6453002"/>
            <a:ext cx="922372" cy="365125"/>
          </a:xfrm>
        </p:spPr>
        <p:txBody>
          <a:bodyPr/>
          <a:lstStyle/>
          <a:p>
            <a:fld id="{C089F4EF-3CDF-46D7-ADF4-3A52C84FD8BE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135035" y="6453002"/>
            <a:ext cx="2546891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78269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3401568" cy="4095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1067625" cy="365125"/>
          </a:xfrm>
        </p:spPr>
        <p:txBody>
          <a:bodyPr/>
          <a:lstStyle/>
          <a:p>
            <a:fld id="{E635C43F-DBB1-4D83-B442-E1529AA900C2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53323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2"/>
            <a:ext cx="3273552" cy="1942773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453002"/>
            <a:ext cx="100365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D13F81E-C5BD-4314-B9B9-AAE2702F29D2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453002"/>
            <a:ext cx="233516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7347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8C146-0A20-4029-98D5-9A42EEDF8B24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288879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12A2F-57DF-45DA-A7E9-678FD33267B9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591928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</p:spPr>
        <p:txBody>
          <a:bodyPr/>
          <a:lstStyle/>
          <a:p>
            <a:fld id="{9128053F-E531-4885-B604-CF1A6DEEE405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68102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5" y="1828800"/>
            <a:ext cx="6172200" cy="4425696"/>
          </a:xfrm>
          <a:blipFill dpi="0" rotWithShape="1">
            <a:blip r:embed="rId2" cstate="print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5" y="1828800"/>
            <a:ext cx="4251960" cy="442887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791B-F730-470C-BD5E-FFF8D449589F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76790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8" y="2290890"/>
            <a:ext cx="4672584" cy="4041648"/>
          </a:xfrm>
          <a:blipFill dpi="0" rotWithShape="1">
            <a:blip r:embed="rId2" cstate="print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73FE0C-303A-49D2-B22C-9FE8AE7D9EF1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4601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521" y="2295144"/>
            <a:ext cx="3490176" cy="4041648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859A7-84EB-4384-87AF-59CC16704CF8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80775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496" y="566928"/>
            <a:ext cx="10826496" cy="4334256"/>
          </a:xfrm>
        </p:spPr>
        <p:txBody>
          <a:bodyPr anchor="b">
            <a:normAutofit/>
          </a:bodyPr>
          <a:lstStyle>
            <a:lvl1pPr algn="l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4944" y="4718304"/>
            <a:ext cx="5897880" cy="1353312"/>
          </a:xfrm>
        </p:spPr>
        <p:txBody>
          <a:bodyPr anchor="t">
            <a:normAutofit/>
          </a:bodyPr>
          <a:lstStyle>
            <a:lvl1pPr marL="0" indent="0" algn="l">
              <a:buNone/>
              <a:defRPr sz="28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D3D17-73C9-402C-91E7-BA73E6829C50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44685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2960" y="603504"/>
            <a:ext cx="10543032" cy="4206240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809744"/>
            <a:ext cx="7525512" cy="1545336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A7CDD-9512-40CC-9351-FC0DE186CFBD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1760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93814EA-F598-EBFD-83D1-6782D7CBB59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2960" y="603504"/>
            <a:ext cx="10543032" cy="4206240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809744"/>
            <a:ext cx="7525512" cy="1545336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3EFCC7-B7E8-4ABE-BBCB-C75FD27800CD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20964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735E4-737B-43D4-B991-92C3D63DE68F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831385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marL="137160" indent="-137160" algn="l">
              <a:lnSpc>
                <a:spcPct val="100000"/>
              </a:lnSpc>
              <a:defRPr sz="4000" b="0"/>
            </a:lvl1pPr>
          </a:lstStyle>
          <a:p>
            <a:r>
              <a:rPr lang="en-US" dirty="0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654972" y="5428752"/>
            <a:ext cx="9043508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3035D-22A0-4334-A9AE-2457016C8B47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9565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CE66BBE-3119-84C9-214F-FCCB3DF5A6F1}"/>
              </a:ext>
            </a:extLst>
          </p:cNvPr>
          <p:cNvSpPr/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37160" indent="-137160" algn="l">
              <a:lnSpc>
                <a:spcPct val="100000"/>
              </a:lnSpc>
              <a:defRPr sz="4000" b="0"/>
            </a:lvl1pPr>
          </a:lstStyle>
          <a:p>
            <a:r>
              <a:rPr lang="en-US" dirty="0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655064" y="5349240"/>
            <a:ext cx="9043416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47CA6-BC1D-429A-A289-4E939E49554A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3244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12648" y="1234440"/>
            <a:ext cx="8961120" cy="3169920"/>
          </a:xfrm>
        </p:spPr>
        <p:txBody>
          <a:bodyPr anchor="ctr">
            <a:normAutofit/>
          </a:bodyPr>
          <a:lstStyle>
            <a:lvl1pPr marL="137160" indent="-137160" algn="l">
              <a:lnSpc>
                <a:spcPct val="100000"/>
              </a:lnSpc>
              <a:defRPr sz="4400" b="0"/>
            </a:lvl1pPr>
          </a:lstStyle>
          <a:p>
            <a:r>
              <a:rPr lang="en-US" dirty="0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66651" y="5669280"/>
            <a:ext cx="8807117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418BD-2BA9-41CB-AB89-625779A7563D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86029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775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65B10-D26A-480A-9509-A9831C5E60D8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708349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0" y="2387600"/>
            <a:ext cx="5157788" cy="37639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387600"/>
            <a:ext cx="5183188" cy="37639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CB42A-67CE-499B-A4FA-7D4E4469B142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825818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E5040-F7E0-40EC-B8E9-CED28200FAA3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496913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FF128-BAC7-4E0D-8F77-28A571D93B6F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917458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B3EA1-DD0C-4B8D-8364-52024B4530F1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59907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557784"/>
            <a:ext cx="6519080" cy="5779007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57344-9CC7-412D-8C20-072BE86D5A11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902161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6" y="1847088"/>
            <a:ext cx="7342307" cy="1133856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987AA-E4E6-4FC1-BAD8-09A952212C58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628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2400"/>
            </a:lvl1pPr>
            <a:lvl2pPr marL="228600" indent="0">
              <a:buNone/>
              <a:defRPr sz="2000"/>
            </a:lvl2pPr>
            <a:lvl3pPr marL="457200" indent="0">
              <a:buNone/>
              <a:defRPr sz="1800"/>
            </a:lvl3pPr>
            <a:lvl4pPr marL="685800" indent="0">
              <a:buNone/>
              <a:defRPr sz="16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CF65F-0E21-48DE-8D75-4BF66A547E8E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531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D291CE83-67BA-4B15-B48A-7DC5C0636664}" type="datetime1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288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5" r:id="rId2"/>
    <p:sldLayoutId id="2147483661" r:id="rId3"/>
    <p:sldLayoutId id="2147483712" r:id="rId4"/>
    <p:sldLayoutId id="2147483698" r:id="rId5"/>
    <p:sldLayoutId id="2147483728" r:id="rId6"/>
    <p:sldLayoutId id="2147483735" r:id="rId7"/>
    <p:sldLayoutId id="2147483758" r:id="rId8"/>
    <p:sldLayoutId id="2147483710" r:id="rId9"/>
    <p:sldLayoutId id="2147483755" r:id="rId10"/>
    <p:sldLayoutId id="2147483713" r:id="rId11"/>
    <p:sldLayoutId id="2147483729" r:id="rId12"/>
    <p:sldLayoutId id="2147483662" r:id="rId13"/>
    <p:sldLayoutId id="2147483679" r:id="rId14"/>
    <p:sldLayoutId id="2147483680" r:id="rId15"/>
    <p:sldLayoutId id="2147483681" r:id="rId16"/>
    <p:sldLayoutId id="2147483682" r:id="rId17"/>
    <p:sldLayoutId id="2147483706" r:id="rId18"/>
    <p:sldLayoutId id="2147483689" r:id="rId19"/>
    <p:sldLayoutId id="2147483690" r:id="rId20"/>
    <p:sldLayoutId id="2147483707" r:id="rId21"/>
    <p:sldLayoutId id="2147483708" r:id="rId22"/>
    <p:sldLayoutId id="2147483692" r:id="rId23"/>
    <p:sldLayoutId id="2147483691" r:id="rId24"/>
    <p:sldLayoutId id="2147483732" r:id="rId25"/>
    <p:sldLayoutId id="2147483733" r:id="rId26"/>
    <p:sldLayoutId id="2147483731" r:id="rId27"/>
    <p:sldLayoutId id="2147483730" r:id="rId28"/>
    <p:sldLayoutId id="2147483694" r:id="rId29"/>
    <p:sldLayoutId id="2147483726" r:id="rId30"/>
    <p:sldLayoutId id="2147483693" r:id="rId31"/>
    <p:sldLayoutId id="2147483711" r:id="rId32"/>
    <p:sldLayoutId id="2147483672" r:id="rId33"/>
    <p:sldLayoutId id="2147483673" r:id="rId34"/>
    <p:sldLayoutId id="2147483696" r:id="rId35"/>
    <p:sldLayoutId id="2147483752" r:id="rId36"/>
    <p:sldLayoutId id="2147483754" r:id="rId37"/>
    <p:sldLayoutId id="2147483753" r:id="rId38"/>
    <p:sldLayoutId id="2147483750" r:id="rId39"/>
    <p:sldLayoutId id="2147483742" r:id="rId40"/>
    <p:sldLayoutId id="2147483743" r:id="rId41"/>
    <p:sldLayoutId id="2147483740" r:id="rId42"/>
    <p:sldLayoutId id="2147483664" r:id="rId43"/>
    <p:sldLayoutId id="2147483665" r:id="rId44"/>
    <p:sldLayoutId id="2147483666" r:id="rId45"/>
    <p:sldLayoutId id="2147483667" r:id="rId46"/>
    <p:sldLayoutId id="2147483668" r:id="rId47"/>
    <p:sldLayoutId id="2147483669" r:id="rId48"/>
    <p:sldLayoutId id="2147483685" r:id="rId49"/>
    <p:sldLayoutId id="2147483687" r:id="rId50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pulse/whats-working-parent-do-when-office-opens-schoolcamp-reder-sheikh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9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7.xml"/><Relationship Id="rId4" Type="http://schemas.openxmlformats.org/officeDocument/2006/relationships/image" Target="../media/image11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7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3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7.xml"/><Relationship Id="rId5" Type="http://schemas.openxmlformats.org/officeDocument/2006/relationships/image" Target="../media/image19.png"/><Relationship Id="rId4" Type="http://schemas.openxmlformats.org/officeDocument/2006/relationships/image" Target="../media/image18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hbr.org/2020/11/a-way-forward-for-working-parent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6D321A2-65AC-4C18-CA75-0FB5084CA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8008" y="4860789"/>
            <a:ext cx="7515982" cy="1390330"/>
          </a:xfrm>
        </p:spPr>
        <p:txBody>
          <a:bodyPr anchor="t">
            <a:normAutofit fontScale="90000"/>
          </a:bodyPr>
          <a:lstStyle/>
          <a:p>
            <a:pPr algn="ctr"/>
            <a:r>
              <a:rPr lang="en-US" sz="2800" dirty="0"/>
              <a:t>Replication Project:</a:t>
            </a:r>
            <a:br>
              <a:rPr lang="en-US" sz="2000" dirty="0"/>
            </a:br>
            <a:r>
              <a:rPr lang="en-US" sz="4500" dirty="0"/>
              <a:t>“</a:t>
            </a:r>
            <a:r>
              <a:rPr lang="en-GB" sz="4500" i="1" dirty="0"/>
              <a:t>Household education gaps and gender role attitudes” </a:t>
            </a:r>
            <a:br>
              <a:rPr lang="en-GB" sz="2000" i="1" dirty="0"/>
            </a:br>
            <a:r>
              <a:rPr lang="en-GB" sz="2800" i="1" dirty="0"/>
              <a:t>Giani, Hope &amp; Skorge (2022)</a:t>
            </a:r>
            <a:endParaRPr lang="en-US" sz="2800" i="1" dirty="0"/>
          </a:p>
        </p:txBody>
      </p:sp>
      <p:pic>
        <p:nvPicPr>
          <p:cNvPr id="7" name="Picture Placeholder 6">
            <a:hlinkClick r:id="rId3"/>
            <a:extLst>
              <a:ext uri="{FF2B5EF4-FFF2-40B4-BE49-F238E27FC236}">
                <a16:creationId xmlns:a16="http://schemas.microsoft.com/office/drawing/2014/main" id="{AA6BCCFE-82B9-38D9-8EAD-75148B80BD8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829" b="2584"/>
          <a:stretch>
            <a:fillRect/>
          </a:stretch>
        </p:blipFill>
        <p:spPr>
          <a:xfrm>
            <a:off x="-1" y="10"/>
            <a:ext cx="12192000" cy="4635122"/>
          </a:xfrm>
          <a:noFill/>
        </p:spPr>
      </p:pic>
      <p:sp>
        <p:nvSpPr>
          <p:cNvPr id="5" name="Subtitle 4">
            <a:extLst>
              <a:ext uri="{FF2B5EF4-FFF2-40B4-BE49-F238E27FC236}">
                <a16:creationId xmlns:a16="http://schemas.microsoft.com/office/drawing/2014/main" id="{02FA3257-663D-61CE-A5D5-22B53DB7148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082581" y="6476777"/>
            <a:ext cx="3109419" cy="381213"/>
          </a:xfrm>
        </p:spPr>
        <p:txBody>
          <a:bodyPr>
            <a:normAutofit/>
          </a:bodyPr>
          <a:lstStyle/>
          <a:p>
            <a:r>
              <a:rPr lang="en-US" dirty="0"/>
              <a:t>Presented by </a:t>
            </a:r>
            <a:r>
              <a:rPr lang="en-US" b="1" i="1" dirty="0"/>
              <a:t>Matilda Tomatis </a:t>
            </a:r>
            <a:r>
              <a:rPr lang="en-US" dirty="0"/>
              <a:t>​</a:t>
            </a:r>
          </a:p>
        </p:txBody>
      </p:sp>
      <p:sp>
        <p:nvSpPr>
          <p:cNvPr id="2" name="Subtitle 4">
            <a:extLst>
              <a:ext uri="{FF2B5EF4-FFF2-40B4-BE49-F238E27FC236}">
                <a16:creationId xmlns:a16="http://schemas.microsoft.com/office/drawing/2014/main" id="{BA90D2A8-51ED-5929-20B1-7C4CB31707A3}"/>
              </a:ext>
            </a:extLst>
          </p:cNvPr>
          <p:cNvSpPr txBox="1">
            <a:spLocks/>
          </p:cNvSpPr>
          <p:nvPr/>
        </p:nvSpPr>
        <p:spPr>
          <a:xfrm>
            <a:off x="1" y="6476787"/>
            <a:ext cx="3109419" cy="3812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Applied Statistical Analysis II​</a:t>
            </a:r>
          </a:p>
        </p:txBody>
      </p:sp>
    </p:spTree>
    <p:extLst>
      <p:ext uri="{BB962C8B-B14F-4D97-AF65-F5344CB8AC3E}">
        <p14:creationId xmlns:p14="http://schemas.microsoft.com/office/powerpoint/2010/main" val="3069965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255C6-1E2E-E4BD-2E9F-B3321C22A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2221" y="707923"/>
            <a:ext cx="7931585" cy="920730"/>
          </a:xfrm>
        </p:spPr>
        <p:txBody>
          <a:bodyPr>
            <a:normAutofit/>
          </a:bodyPr>
          <a:lstStyle/>
          <a:p>
            <a:r>
              <a:rPr lang="en-US" sz="4000" dirty="0"/>
              <a:t>Original Paper - Introduction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C04E6-B771-F1FA-85F4-B7984DE55A8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862221" y="2009395"/>
            <a:ext cx="8467558" cy="4027611"/>
          </a:xfrm>
        </p:spPr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It’s a 2022 paper, published in the </a:t>
            </a:r>
            <a:r>
              <a:rPr lang="en-GB" i="1" dirty="0"/>
              <a:t>Political Science Research and Methods </a:t>
            </a:r>
            <a:r>
              <a:rPr lang="en-GB" dirty="0"/>
              <a:t>by Giani, Hope &amp; Skorge. 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It investigates how educational gap within the household mediate one’s gender childcare bias, hereby expressed as the difference in approval of a mother versus a father having a full-time job while having children under the age of three.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findings align with a resource-bargaining framework.</a:t>
            </a:r>
          </a:p>
        </p:txBody>
      </p:sp>
    </p:spTree>
    <p:extLst>
      <p:ext uri="{BB962C8B-B14F-4D97-AF65-F5344CB8AC3E}">
        <p14:creationId xmlns:p14="http://schemas.microsoft.com/office/powerpoint/2010/main" val="4216523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144A5-0283-F980-85F3-EE51746FC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10" y="553615"/>
            <a:ext cx="3595634" cy="1757505"/>
          </a:xfrm>
        </p:spPr>
        <p:txBody>
          <a:bodyPr anchor="t">
            <a:normAutofit/>
          </a:bodyPr>
          <a:lstStyle/>
          <a:p>
            <a:pPr algn="ctr"/>
            <a:r>
              <a:rPr lang="en-US" sz="3200" dirty="0"/>
              <a:t>Data – European Social Survey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85359-5FD3-D5C8-1467-F7082543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0491" y="1632828"/>
            <a:ext cx="4632115" cy="4671557"/>
          </a:xfrm>
        </p:spPr>
        <p:txBody>
          <a:bodyPr anchor="t">
            <a:normAutofit fontScale="92500" lnSpcReduction="20000"/>
          </a:bodyPr>
          <a:lstStyle/>
          <a:p>
            <a:pPr marL="285750" indent="-285750"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</a:rPr>
              <a:t>2018 ESS (Round 9) data, survey face-to-face carried out in 19 EU countries.</a:t>
            </a:r>
          </a:p>
          <a:p>
            <a:pPr marL="285750" indent="-285750" rtl="0" fontAlgn="base">
              <a:buFont typeface="Arial" panose="020B0604020202020204" pitchFamily="34" charset="0"/>
              <a:buChar char="•"/>
            </a:pPr>
            <a:r>
              <a:rPr lang="en-US" sz="1800" u="sng" dirty="0"/>
              <a:t>Dependent variable of interest</a:t>
            </a:r>
            <a:r>
              <a:rPr lang="en-US" sz="1800" dirty="0"/>
              <a:t>: </a:t>
            </a:r>
            <a:r>
              <a:rPr lang="en-US" sz="1800" i="1" dirty="0"/>
              <a:t>Approval</a:t>
            </a:r>
            <a:r>
              <a:rPr lang="en-US" sz="1800" dirty="0"/>
              <a:t>. On a scale from 0 (Strongly approve) to 4 (Strongly Disapprove).</a:t>
            </a:r>
          </a:p>
          <a:p>
            <a:pPr marL="285750" indent="-285750"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</a:rPr>
              <a:t>M</a:t>
            </a:r>
            <a:r>
              <a:rPr lang="en-US" sz="1800" b="0" i="0" u="sng" strike="noStrike" dirty="0">
                <a:effectLst/>
              </a:rPr>
              <a:t>ain independent variables</a:t>
            </a:r>
            <a:r>
              <a:rPr lang="en-US" sz="1800" b="0" i="0" u="none" strike="noStrike" dirty="0">
                <a:effectLst/>
              </a:rPr>
              <a:t>:</a:t>
            </a: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1800" b="0" i="1" u="none" strike="noStrike" dirty="0">
                <a:effectLst/>
              </a:rPr>
              <a:t>Vignette Gender</a:t>
            </a:r>
            <a:r>
              <a:rPr lang="en-US" sz="1800" b="0" u="none" strike="noStrike" dirty="0">
                <a:effectLst/>
              </a:rPr>
              <a:t>: half of the respondents were asked about a mother and half about a father, binary variable.</a:t>
            </a: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1800" b="0" i="1" u="none" strike="noStrike" dirty="0">
                <a:effectLst/>
              </a:rPr>
              <a:t>Household Education Gap: </a:t>
            </a:r>
            <a:r>
              <a:rPr lang="en-US" sz="1800" b="0" u="none" strike="noStrike" dirty="0">
                <a:effectLst/>
              </a:rPr>
              <a:t>the difference in the respondent education minus that of their partner, discrete variable spanning from -6 to +6. </a:t>
            </a:r>
            <a:endParaRPr lang="en-US" sz="1800" b="0" i="1" u="none" strike="noStrike" dirty="0">
              <a:effectLst/>
            </a:endParaRP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endParaRPr lang="en-US" b="0" i="1" u="none" strike="noStrike" dirty="0">
              <a:effectLst/>
            </a:endParaRPr>
          </a:p>
        </p:txBody>
      </p:sp>
      <p:pic>
        <p:nvPicPr>
          <p:cNvPr id="8" name="Picture Placeholder 7" descr="A graph of different sizes and shapes&#10;&#10;AI-generated content may be incorrect.">
            <a:extLst>
              <a:ext uri="{FF2B5EF4-FFF2-40B4-BE49-F238E27FC236}">
                <a16:creationId xmlns:a16="http://schemas.microsoft.com/office/drawing/2014/main" id="{0E7EAD38-2C74-16B6-A191-5BFCDDAF91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5288" y="208871"/>
            <a:ext cx="6440258" cy="3220129"/>
          </a:xfrm>
          <a:noFill/>
        </p:spPr>
      </p:pic>
      <p:pic>
        <p:nvPicPr>
          <p:cNvPr id="10" name="Picture 9" descr="A graph of different sizes and shapes&#10;&#10;AI-generated content may be incorrect.">
            <a:extLst>
              <a:ext uri="{FF2B5EF4-FFF2-40B4-BE49-F238E27FC236}">
                <a16:creationId xmlns:a16="http://schemas.microsoft.com/office/drawing/2014/main" id="{03CD8658-61A6-0A58-4ADE-9D6FA46116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4832" y="3649879"/>
            <a:ext cx="6236677" cy="3118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4500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EFD0A-62AC-37B7-34A0-BDB23D9C5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4060D-7D6C-3838-2A0F-A97F1C17D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196" y="208756"/>
            <a:ext cx="6133720" cy="1197929"/>
          </a:xfrm>
        </p:spPr>
        <p:txBody>
          <a:bodyPr anchor="t">
            <a:noAutofit/>
          </a:bodyPr>
          <a:lstStyle/>
          <a:p>
            <a:pPr algn="ctr"/>
            <a:r>
              <a:rPr lang="en-GB" sz="2700" dirty="0"/>
              <a:t>Original Model: </a:t>
            </a:r>
            <a:br>
              <a:rPr lang="en-GB" sz="2700" dirty="0"/>
            </a:br>
            <a:r>
              <a:rPr lang="en-GB" sz="2700" dirty="0"/>
              <a:t>Gaussian Kernel </a:t>
            </a:r>
            <a:r>
              <a:rPr lang="en-GB" sz="2700" dirty="0" err="1"/>
              <a:t>Interflex</a:t>
            </a:r>
            <a:r>
              <a:rPr lang="en-GB" sz="2700" dirty="0"/>
              <a:t> </a:t>
            </a:r>
            <a:br>
              <a:rPr lang="en-GB" sz="2700" dirty="0"/>
            </a:br>
            <a:r>
              <a:rPr lang="en-GB" sz="2700" dirty="0"/>
              <a:t>(</a:t>
            </a:r>
            <a:r>
              <a:rPr lang="en-GB" sz="2700" dirty="0" err="1"/>
              <a:t>Hainmueller</a:t>
            </a:r>
            <a:r>
              <a:rPr lang="en-GB" sz="2700" dirty="0"/>
              <a:t>, </a:t>
            </a:r>
            <a:r>
              <a:rPr lang="en-GB" sz="2700" dirty="0" err="1"/>
              <a:t>Mummolo</a:t>
            </a:r>
            <a:r>
              <a:rPr lang="en-GB" sz="2700" dirty="0"/>
              <a:t> and Xu, 2019)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800E4-E8BD-5E5A-9CBA-4844F548DCA0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185195" y="1731188"/>
                <a:ext cx="5910805" cy="5033803"/>
              </a:xfrm>
            </p:spPr>
            <p:txBody>
              <a:bodyPr anchor="t">
                <a:normAutofit fontScale="92500" lnSpcReduction="10000"/>
              </a:bodyPr>
              <a:lstStyle/>
              <a:p>
                <a:pPr lvl="1" fontAlgn="base"/>
                <a:r>
                  <a:rPr lang="en-GB" sz="1900" dirty="0"/>
                  <a:t>The model allows the gender childcare bias to vary non-monotonically across levels of the household educational gap:</a:t>
                </a:r>
              </a:p>
              <a:p>
                <a:pPr lvl="1" fontAlgn="base"/>
                <a:endParaRPr lang="en-GB" sz="2100" dirty="0"/>
              </a:p>
              <a:p>
                <a:pPr lvl="1" fontAlgn="base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	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𝒀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} = </m:t>
                      </m:r>
                      <m:r>
                        <a:rPr lang="el-GR" sz="2100" b="1" i="1" dirty="0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(∆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𝑬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}) + 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(∆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𝑬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}) </m:t>
                      </m:r>
                      <m:r>
                        <a:rPr lang="it-IT" sz="2100" b="1" i="1" dirty="0" smtClean="0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} </m:t>
                      </m:r>
                    </m:oMath>
                  </m:oMathPara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	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l-GR" sz="2100" b="1" i="1" dirty="0" smtClean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(∆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𝑬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}) 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𝒁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} + </m:t>
                      </m:r>
                      <m:r>
                        <a:rPr lang="el-GR" sz="2100" b="1" i="1" dirty="0" smtClean="0">
                          <a:latin typeface="Cambria Math" panose="02040503050406030204" pitchFamily="18" charset="0"/>
                        </a:rPr>
                        <m:t>𝝁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l-GR" sz="2100" b="1" i="1" dirty="0" smtClean="0">
                          <a:latin typeface="Cambria Math" panose="02040503050406030204" pitchFamily="18" charset="0"/>
                        </a:rPr>
                        <m:t>𝜺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2100" b="1" i="1" dirty="0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</a:p>
              <a:p>
                <a:pPr lvl="1" fontAlgn="base"/>
                <a:endParaRPr lang="it-IT" sz="2100" b="1" dirty="0"/>
              </a:p>
              <a:p>
                <a:pPr lvl="1" fontAlgn="base"/>
                <a:endParaRPr lang="it-IT" sz="2100" b="1" dirty="0"/>
              </a:p>
              <a:p>
                <a:pPr lvl="1" fontAlgn="base"/>
                <a:r>
                  <a:rPr lang="en-GB" sz="1900" dirty="0"/>
                  <a:t>The key quantity of interest is </a:t>
                </a:r>
                <a14:m>
                  <m:oMath xmlns:m="http://schemas.openxmlformats.org/officeDocument/2006/math">
                    <m:r>
                      <a:rPr lang="en-GB" sz="1900" b="1" i="1" dirty="0" smtClean="0"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GB" sz="1900" b="1" i="1" dirty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ar-AE" sz="1900" b="1" smtClean="0"/>
                        </m:ctrlPr>
                      </m:dPr>
                      <m:e>
                        <m:r>
                          <a:rPr lang="ar-AE" sz="1900" b="1" smtClean="0"/>
                          <m:t>⋅</m:t>
                        </m:r>
                      </m:e>
                    </m:d>
                  </m:oMath>
                </a14:m>
                <a:r>
                  <a:rPr lang="ar-AE" sz="1900" dirty="0"/>
                  <a:t>: </a:t>
                </a:r>
                <a:r>
                  <a:rPr lang="it-IT" sz="1900" dirty="0"/>
                  <a:t> </a:t>
                </a:r>
                <a:r>
                  <a:rPr lang="en-GB" sz="1900" dirty="0"/>
                  <a:t>the marginal gender childcare bias, the difference in approval between a mother and a father holding a full-time job, conditional 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900" smtClean="0"/>
                      <m:t>Δ</m:t>
                    </m:r>
                    <m:sSub>
                      <m:sSubPr>
                        <m:ctrlPr>
                          <a:rPr lang="ar-AE" sz="1900" smtClean="0"/>
                        </m:ctrlPr>
                      </m:sSubPr>
                      <m:e>
                        <m:r>
                          <a:rPr lang="ar-AE" sz="1900" smtClean="0"/>
                          <m:t>𝐸</m:t>
                        </m:r>
                      </m:e>
                      <m:sub>
                        <m:r>
                          <a:rPr lang="ar-AE" sz="1900" smtClean="0"/>
                          <m:t>𝑖</m:t>
                        </m:r>
                        <m:r>
                          <a:rPr lang="ar-AE" sz="1900" smtClean="0"/>
                          <m:t>,</m:t>
                        </m:r>
                        <m:r>
                          <a:rPr lang="ar-AE" sz="1900" smtClean="0"/>
                          <m:t>𝑐</m:t>
                        </m:r>
                      </m:sub>
                    </m:sSub>
                    <m:r>
                      <a:rPr lang="it-IT" sz="19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sz="1900" dirty="0"/>
              </a:p>
              <a:p>
                <a:pPr lvl="1" fontAlgn="base"/>
                <a:r>
                  <a:rPr lang="en-GB" sz="1900" dirty="0"/>
                  <a:t>The sample is split by respondent gender to assess whether the pattern differs between men and women.</a:t>
                </a:r>
              </a:p>
              <a:p>
                <a:pPr lvl="1" fontAlgn="base"/>
                <a14:m/>
              </a:p>
              <a:p>
                <a:pPr lvl="1" fontAlgn="base"/>
                <a:endParaRPr lang="en-GB" dirty="0"/>
              </a:p>
              <a:p>
                <a:pPr marL="742950" lvl="1" indent="-285750" fontAlgn="base">
                  <a:buFont typeface="Arial" panose="020B0604020202020204" pitchFamily="34" charset="0"/>
                  <a:buChar char="•"/>
                </a:pPr>
                <a:endParaRPr lang="en-US" b="0" u="none" strike="noStrike" dirty="0">
                  <a:effectLst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800E4-E8BD-5E5A-9CBA-4844F548DC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185195" y="1731188"/>
                <a:ext cx="5910805" cy="5033803"/>
              </a:xfrm>
              <a:blipFill>
                <a:blip r:embed="rId3"/>
                <a:stretch>
                  <a:fillRect t="-605" r="-928" b="-1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38CAA340-01A8-0FBC-9DA3-2452E735D7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585133" y="380976"/>
            <a:ext cx="4265116" cy="609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9677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79F20-7FE0-9464-CC8C-AAB74EE17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144" y="4162318"/>
            <a:ext cx="2953618" cy="884244"/>
          </a:xfrm>
        </p:spPr>
        <p:txBody>
          <a:bodyPr anchor="t">
            <a:normAutofit/>
          </a:bodyPr>
          <a:lstStyle/>
          <a:p>
            <a:r>
              <a:rPr lang="en-US" dirty="0"/>
              <a:t>Main Findings </a:t>
            </a:r>
          </a:p>
        </p:txBody>
      </p:sp>
      <p:pic>
        <p:nvPicPr>
          <p:cNvPr id="12" name="Picture Placeholder 11" descr="A comparison of a graph&#10;&#10;AI-generated content may be incorrect.">
            <a:extLst>
              <a:ext uri="{FF2B5EF4-FFF2-40B4-BE49-F238E27FC236}">
                <a16:creationId xmlns:a16="http://schemas.microsoft.com/office/drawing/2014/main" id="{3855C90D-4023-1515-B98B-0CF08DE052A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082" r="-823" b="7775"/>
          <a:stretch>
            <a:fillRect/>
          </a:stretch>
        </p:blipFill>
        <p:spPr>
          <a:xfrm>
            <a:off x="1709194" y="-174918"/>
            <a:ext cx="8773612" cy="4337236"/>
          </a:xfrm>
          <a:noFill/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072345-EDED-4266-CFF8-650FF0BB1E4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17762" y="4162318"/>
            <a:ext cx="8532278" cy="255099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10000"/>
              </a:lnSpc>
              <a:buFont typeface="+mj-lt"/>
              <a:buAutoNum type="arabicPeriod"/>
            </a:pPr>
            <a:r>
              <a:rPr lang="en-GB" dirty="0"/>
              <a:t>For </a:t>
            </a:r>
            <a:r>
              <a:rPr lang="en-GB" i="1" dirty="0"/>
              <a:t>female respondents, </a:t>
            </a:r>
            <a:r>
              <a:rPr lang="en-GB" dirty="0"/>
              <a:t>as the household education gap increase in their favour, their gender childcare bias tends to diminish.</a:t>
            </a:r>
          </a:p>
          <a:p>
            <a:pPr marL="342900" indent="-342900">
              <a:lnSpc>
                <a:spcPct val="110000"/>
              </a:lnSpc>
              <a:buFont typeface="+mj-lt"/>
              <a:buAutoNum type="arabicPeriod"/>
            </a:pPr>
            <a:r>
              <a:rPr lang="en-GB" dirty="0"/>
              <a:t>For </a:t>
            </a:r>
            <a:r>
              <a:rPr lang="en-GB" i="1" dirty="0"/>
              <a:t>male respondents </a:t>
            </a:r>
            <a:r>
              <a:rPr lang="en-GB" dirty="0"/>
              <a:t>the opposite trend is observed: as the educational gap increases in their favour, they tend to have a bigger gender bias. </a:t>
            </a:r>
          </a:p>
          <a:p>
            <a:pPr marL="342900" indent="-342900">
              <a:lnSpc>
                <a:spcPct val="110000"/>
              </a:lnSpc>
              <a:buFont typeface="+mj-lt"/>
              <a:buAutoNum type="arabicPeriod"/>
            </a:pPr>
            <a:r>
              <a:rPr lang="en-GB" dirty="0"/>
              <a:t>These findings are in line with a </a:t>
            </a:r>
            <a:r>
              <a:rPr lang="en-GB" i="1" u="sng" dirty="0"/>
              <a:t>resource-bargaining framework</a:t>
            </a:r>
            <a:r>
              <a:rPr lang="en-GB" dirty="0"/>
              <a:t>: women who out-educate their partners hold more power in the household and hold more egalitarian attitudes; men show the opposite pattern.</a:t>
            </a:r>
          </a:p>
          <a:p>
            <a:pPr marL="0" indent="0">
              <a:lnSpc>
                <a:spcPct val="110000"/>
              </a:lnSpc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9413793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20F23-1809-2CC4-1A94-F826616D2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My Contribution:</a:t>
            </a:r>
            <a:br>
              <a:rPr lang="en-US" dirty="0"/>
            </a:br>
            <a:r>
              <a:rPr lang="en-US" dirty="0"/>
              <a:t>Linear </a:t>
            </a:r>
            <a:r>
              <a:rPr lang="en-US" dirty="0" err="1"/>
              <a:t>Interflex</a:t>
            </a:r>
            <a:br>
              <a:rPr lang="en-US" dirty="0"/>
            </a:br>
            <a:r>
              <a:rPr lang="en-US" dirty="0"/>
              <a:t>Model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BAD71A6-1036-A099-9BDF-27C11F75648B}"/>
                  </a:ext>
                </a:extLst>
              </p:cNvPr>
              <p:cNvSpPr>
                <a:spLocks noGrp="1"/>
              </p:cNvSpPr>
              <p:nvPr>
                <p:ph sz="quarter" idx="14"/>
              </p:nvPr>
            </p:nvSpPr>
            <p:spPr>
              <a:xfrm>
                <a:off x="5016184" y="550217"/>
                <a:ext cx="6561138" cy="5759450"/>
              </a:xfrm>
            </p:spPr>
            <p:txBody>
              <a:bodyPr>
                <a:normAutofit/>
              </a:bodyPr>
              <a:lstStyle/>
              <a:p>
                <a:r>
                  <a:rPr lang="en-GB" sz="1800" dirty="0"/>
                  <a:t>The Gaussian kernel model is computationally intensive and its output, a smooth function </a:t>
                </a:r>
                <a14:m>
                  <m:oMath xmlns:m="http://schemas.openxmlformats.org/officeDocument/2006/math">
                    <m:r>
                      <a:rPr lang="en-GB" sz="1800" i="1"/>
                      <m:t>𝑔</m:t>
                    </m:r>
                    <m:d>
                      <m:dPr>
                        <m:ctrlPr>
                          <a:rPr lang="ar-AE" sz="1800" i="1" smtClean="0"/>
                        </m:ctrlPr>
                      </m:dPr>
                      <m:e>
                        <m:r>
                          <a:rPr lang="ar-AE" sz="1800"/>
                          <m:t>⋅</m:t>
                        </m:r>
                      </m:e>
                    </m:d>
                    <m:r>
                      <a:rPr lang="it-IT" sz="1800" b="0" i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GB" sz="1800" dirty="0"/>
                  <a:t>is not straightforward to interpret. </a:t>
                </a:r>
              </a:p>
              <a:p>
                <a:r>
                  <a:rPr lang="en-GB" sz="1800" dirty="0"/>
                  <a:t>Given that the original results appeared linear, I fit a </a:t>
                </a:r>
                <a:r>
                  <a:rPr lang="en-GB" sz="1800" i="1" u="sng" dirty="0"/>
                  <a:t>linear </a:t>
                </a:r>
                <a:r>
                  <a:rPr lang="en-GB" sz="1800" i="1" u="sng" dirty="0" err="1"/>
                  <a:t>interflex</a:t>
                </a:r>
                <a:r>
                  <a:rPr lang="en-GB" sz="1800" i="1" u="sng" dirty="0"/>
                  <a:t> model</a:t>
                </a:r>
                <a:r>
                  <a:rPr lang="en-GB" sz="1800" dirty="0"/>
                  <a:t> retaining the same covariates and country fixed effects, trading flexibility for parsimony and interpretability.</a:t>
                </a:r>
              </a:p>
              <a:p>
                <a:endParaRPr lang="en-GB" sz="1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1" i="1" dirty="0" smtClean="0">
                          <a:latin typeface="Cambria Math" panose="02040503050406030204" pitchFamily="18" charset="0"/>
                        </a:rPr>
                        <m:t>𝒀</m:t>
                      </m:r>
                      <m:d>
                        <m:dPr>
                          <m:begChr m:val="{"/>
                          <m:endChr m:val="}"/>
                          <m:ctrlPr>
                            <a:rPr lang="it-IT" sz="18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  <m:r>
                        <a:rPr lang="it-IT" sz="1800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l-GR" sz="1800" b="1" i="1" dirty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el-GR" sz="1800" b="1" i="1" dirty="0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l-GR" sz="1800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1800" b="1" i="1" dirty="0">
                              <a:latin typeface="Cambria Math" panose="02040503050406030204" pitchFamily="18" charset="0"/>
                            </a:rPr>
                            <m:t>𝜷</m:t>
                          </m:r>
                        </m:e>
                        <m:sub>
                          <m:r>
                            <a:rPr lang="el-GR" sz="1800" b="1" i="1" dirty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𝑩</m:t>
                      </m:r>
                      <m:d>
                        <m:dPr>
                          <m:begChr m:val="{"/>
                          <m:endChr m:val="}"/>
                          <m:ctrlPr>
                            <a:rPr lang="it-IT" sz="18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l-GR" sz="1800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1800" b="1" i="1" dirty="0">
                              <a:latin typeface="Cambria Math" panose="02040503050406030204" pitchFamily="18" charset="0"/>
                            </a:rPr>
                            <m:t>𝜷</m:t>
                          </m:r>
                        </m:e>
                        <m:sub>
                          <m:r>
                            <a:rPr lang="el-GR" sz="1800" b="1" i="1" dirty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l-GR" sz="1800" b="1" i="0" dirty="0">
                          <a:latin typeface="Cambria Math" panose="02040503050406030204" pitchFamily="18" charset="0"/>
                        </a:rPr>
                        <m:t>𝚫</m:t>
                      </m:r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𝑬</m:t>
                      </m:r>
                      <m:d>
                        <m:dPr>
                          <m:begChr m:val="{"/>
                          <m:endChr m:val="}"/>
                          <m:ctrlPr>
                            <a:rPr lang="it-IT" sz="18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+ </m:t>
                      </m:r>
                    </m:oMath>
                  </m:oMathPara>
                </a14:m>
                <a:endParaRPr lang="it-IT" sz="18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800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1800" b="1" i="1" dirty="0">
                              <a:latin typeface="Cambria Math" panose="02040503050406030204" pitchFamily="18" charset="0"/>
                            </a:rPr>
                            <m:t>𝜷</m:t>
                          </m:r>
                        </m:e>
                        <m:sub>
                          <m:r>
                            <a:rPr lang="it-IT" sz="1800" b="1" i="1" dirty="0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d>
                        <m:dPr>
                          <m:ctrlPr>
                            <a:rPr lang="el-GR" sz="1800" b="1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1" i="1" dirty="0">
                              <a:latin typeface="Cambria Math" panose="02040503050406030204" pitchFamily="18" charset="0"/>
                            </a:rPr>
                            <m:t>𝑩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it-IT" sz="1800" b="1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800" b="1" i="1" dirty="0" err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GB" sz="1800" b="1" i="1" dirty="0" err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sz="1800" b="1" i="1" dirty="0" err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d>
                          <m:r>
                            <a:rPr lang="el-GR" sz="1800" b="1" i="0" dirty="0">
                              <a:latin typeface="Cambria Math" panose="02040503050406030204" pitchFamily="18" charset="0"/>
                            </a:rPr>
                            <m:t>𝚫</m:t>
                          </m:r>
                          <m:r>
                            <a:rPr lang="en-GB" sz="1800" b="1" i="1" dirty="0">
                              <a:latin typeface="Cambria Math" panose="02040503050406030204" pitchFamily="18" charset="0"/>
                            </a:rPr>
                            <m:t>𝑬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it-IT" sz="1800" b="1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800" b="1" i="1" dirty="0" err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GB" sz="1800" b="1" i="1" dirty="0" err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sz="1800" b="1" i="1" dirty="0" err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d>
                        </m:e>
                      </m:d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l-GR" sz="1800" b="1" i="1" dirty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𝒁</m:t>
                      </m:r>
                      <m:d>
                        <m:dPr>
                          <m:begChr m:val="{"/>
                          <m:endChr m:val="}"/>
                          <m:ctrlPr>
                            <a:rPr lang="it-IT" sz="18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l-GR" sz="1800" b="1" i="1" dirty="0">
                          <a:latin typeface="Cambria Math" panose="02040503050406030204" pitchFamily="18" charset="0"/>
                        </a:rPr>
                        <m:t>𝝁</m:t>
                      </m:r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GB" sz="1800" b="1" i="1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l-GR" sz="1800" b="1" i="1" dirty="0">
                          <a:latin typeface="Cambria Math" panose="02040503050406030204" pitchFamily="18" charset="0"/>
                        </a:rPr>
                        <m:t>𝜺</m:t>
                      </m:r>
                      <m:d>
                        <m:dPr>
                          <m:begChr m:val="{"/>
                          <m:endChr m:val="}"/>
                          <m:ctrlPr>
                            <a:rPr lang="it-IT" sz="1800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800" b="1" i="1" dirty="0" err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</m:oMath>
                  </m:oMathPara>
                </a14:m>
                <a:endParaRPr lang="it-IT" sz="18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/>
              </a:p>
              <a:p>
                <a:pPr marL="0" indent="0" algn="ctr">
                  <a:buNone/>
                </a:pPr>
                <a:r>
                  <a:rPr lang="en-GB" sz="1800" dirty="0"/>
                  <a:t>In this specification our focus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18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800" b="1" i="1" dirty="0">
                            <a:latin typeface="Cambria Math" panose="02040503050406030204" pitchFamily="18" charset="0"/>
                          </a:rPr>
                          <m:t>𝜷</m:t>
                        </m:r>
                      </m:e>
                      <m:sub>
                        <m:r>
                          <a:rPr lang="it-IT" sz="1800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r>
                  <a:rPr lang="en-GB" sz="1800" dirty="0"/>
                  <a:t>, the marginal gender childcare bias given a specific level of household educational gap.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BAD71A6-1036-A099-9BDF-27C11F7564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4"/>
              </p:nvPr>
            </p:nvSpPr>
            <p:spPr>
              <a:xfrm>
                <a:off x="5016184" y="550217"/>
                <a:ext cx="6561138" cy="5759450"/>
              </a:xfrm>
              <a:blipFill>
                <a:blip r:embed="rId2"/>
                <a:stretch>
                  <a:fillRect l="-8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Placeholder 11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7C5B438A-496E-B6F7-EF65-7DF7EB1A3A4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4" b="202"/>
          <a:stretch>
            <a:fillRect/>
          </a:stretch>
        </p:blipFill>
        <p:spPr>
          <a:xfrm>
            <a:off x="731521" y="2118167"/>
            <a:ext cx="3490176" cy="4398380"/>
          </a:xfrm>
        </p:spPr>
      </p:pic>
    </p:spTree>
    <p:extLst>
      <p:ext uri="{BB962C8B-B14F-4D97-AF65-F5344CB8AC3E}">
        <p14:creationId xmlns:p14="http://schemas.microsoft.com/office/powerpoint/2010/main" val="3599844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990C6-BC6A-4C3E-DBF4-146961829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6F5DC-E247-B9F7-F86A-17C1B2194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67089" y="3181672"/>
            <a:ext cx="3595634" cy="686847"/>
          </a:xfrm>
        </p:spPr>
        <p:txBody>
          <a:bodyPr anchor="t">
            <a:normAutofit/>
          </a:bodyPr>
          <a:lstStyle/>
          <a:p>
            <a:pPr algn="ctr"/>
            <a:r>
              <a:rPr lang="en-US" sz="3200" dirty="0"/>
              <a:t>My Findings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4CF3B9-657D-8384-909A-485B181A5258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5937814" y="3675717"/>
                <a:ext cx="6254186" cy="2049131"/>
              </a:xfrm>
            </p:spPr>
            <p:txBody>
              <a:bodyPr anchor="t">
                <a:normAutofit/>
              </a:bodyPr>
              <a:lstStyle/>
              <a:p>
                <a:pPr marL="285750" indent="-285750" rtl="0" fontAlgn="base">
                  <a:buFont typeface="Arial" panose="020B0604020202020204" pitchFamily="34" charset="0"/>
                  <a:buChar char="•"/>
                </a:pPr>
                <a:r>
                  <a:rPr lang="en-US" dirty="0"/>
                  <a:t>The two models reports identical results for female respondents and strongly similar values for males </a:t>
                </a:r>
              </a:p>
              <a:p>
                <a:pPr marL="285750" indent="-285750" fontAlgn="base">
                  <a:buFont typeface="Arial" panose="020B0604020202020204" pitchFamily="34" charset="0"/>
                  <a:buChar char="•"/>
                </a:pPr>
                <a:r>
                  <a:rPr lang="en-US" dirty="0"/>
                  <a:t>Specifically, we find that has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b="1" i="1" dirty="0">
                            <a:latin typeface="Cambria Math" panose="02040503050406030204" pitchFamily="18" charset="0"/>
                          </a:rPr>
                          <m:t>𝜷</m:t>
                        </m:r>
                      </m:e>
                      <m:sub>
                        <m:r>
                          <a:rPr lang="it-IT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  <m:r>
                      <a:rPr lang="it-IT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values of -0,045 for women and 0,026 for men; the base value, when the educational gap is equal to 0, is similar for both genders, validating the </a:t>
                </a:r>
                <a:r>
                  <a:rPr lang="en-US" i="1" u="sng" dirty="0"/>
                  <a:t>resource-bargaining</a:t>
                </a:r>
                <a:r>
                  <a:rPr lang="en-US" dirty="0"/>
                  <a:t> framework .</a:t>
                </a:r>
              </a:p>
              <a:p>
                <a:pPr rtl="0" fontAlgn="base"/>
                <a:endParaRPr lang="en-US" dirty="0"/>
              </a:p>
              <a:p>
                <a:pPr lvl="1" fontAlgn="base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4CF3B9-657D-8384-909A-485B181A52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5937814" y="3675717"/>
                <a:ext cx="6254186" cy="2049131"/>
              </a:xfrm>
              <a:blipFill>
                <a:blip r:embed="rId3"/>
                <a:stretch>
                  <a:fillRect l="-390" r="-12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Content Placeholder 6" descr="A comparison of a graph&#10;&#10;AI-generated content may be incorrect.">
            <a:extLst>
              <a:ext uri="{FF2B5EF4-FFF2-40B4-BE49-F238E27FC236}">
                <a16:creationId xmlns:a16="http://schemas.microsoft.com/office/drawing/2014/main" id="{FB6BB1D4-83A5-0528-B248-C2AA9819A1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05" t="2492" b="1176"/>
          <a:stretch>
            <a:fillRect/>
          </a:stretch>
        </p:blipFill>
        <p:spPr>
          <a:xfrm>
            <a:off x="5937813" y="22158"/>
            <a:ext cx="6254186" cy="3159514"/>
          </a:xfrm>
          <a:ln>
            <a:noFill/>
          </a:ln>
        </p:spPr>
      </p:pic>
      <p:pic>
        <p:nvPicPr>
          <p:cNvPr id="11" name="Picture 10" descr="A table of linear equations&#10;&#10;AI-generated content may be incorrect.">
            <a:extLst>
              <a:ext uri="{FF2B5EF4-FFF2-40B4-BE49-F238E27FC236}">
                <a16:creationId xmlns:a16="http://schemas.microsoft.com/office/drawing/2014/main" id="{F723567A-54BA-916D-C105-5DBD1A4296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02" r="1609"/>
          <a:stretch>
            <a:fillRect/>
          </a:stretch>
        </p:blipFill>
        <p:spPr>
          <a:xfrm>
            <a:off x="0" y="785800"/>
            <a:ext cx="5937813" cy="4791744"/>
          </a:xfrm>
          <a:prstGeom prst="rect">
            <a:avLst/>
          </a:prstGeom>
          <a:ln>
            <a:solidFill>
              <a:srgbClr val="BBBBBB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105D789-77BC-3F5B-8035-F9E3DFC169D2}"/>
              </a:ext>
            </a:extLst>
          </p:cNvPr>
          <p:cNvSpPr txBox="1"/>
          <p:nvPr/>
        </p:nvSpPr>
        <p:spPr>
          <a:xfrm>
            <a:off x="366532" y="5724848"/>
            <a:ext cx="114589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/>
              <a:t>In conclusion: </a:t>
            </a:r>
            <a:r>
              <a:rPr lang="en-GB" dirty="0"/>
              <a:t>The results are near-identical across both specifications, suggesting the added complexity of the kernel model was unnecessary.</a:t>
            </a:r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478585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209B1-CECE-7466-7044-9D73619E56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/>
          <a:lstStyle/>
          <a:p>
            <a:r>
              <a:rPr lang="en-US" dirty="0"/>
              <a:t>Q &amp; 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66681B-5E1B-BD2B-6960-3B46EFE83A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/>
          <a:lstStyle/>
          <a:p>
            <a:r>
              <a:rPr lang="en-US" dirty="0"/>
              <a:t>Thank you for your attention</a:t>
            </a:r>
          </a:p>
        </p:txBody>
      </p:sp>
      <p:pic>
        <p:nvPicPr>
          <p:cNvPr id="8" name="Picture Placeholder 7" descr="A group of people using their phones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2E46BC9C-1EB3-5F48-CE08-BECE1AB1D71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54" b="13654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999686948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_win32_DN_V3" id="{9F427321-9060-43C1-8B15-4D38A9FA231C}" vid="{F91C65FD-DCCD-4832-9662-5F5E1061559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33686514-4954-430f-9777-d7949ff8c60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BFA910380E6A0408EB5EA3C9000A250" ma:contentTypeVersion="5" ma:contentTypeDescription="Create a new document." ma:contentTypeScope="" ma:versionID="dec3b180a38f21f54b0d1ad9263fe85c">
  <xsd:schema xmlns:xsd="http://www.w3.org/2001/XMLSchema" xmlns:xs="http://www.w3.org/2001/XMLSchema" xmlns:p="http://schemas.microsoft.com/office/2006/metadata/properties" xmlns:ns3="33686514-4954-430f-9777-d7949ff8c605" targetNamespace="http://schemas.microsoft.com/office/2006/metadata/properties" ma:root="true" ma:fieldsID="9f66fabd7b85cc044625280f22f74cd2" ns3:_="">
    <xsd:import namespace="33686514-4954-430f-9777-d7949ff8c605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3686514-4954-430f-9777-d7949ff8c605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EA2E174-8201-44C8-8E86-D532E6482AAF}">
  <ds:schemaRefs>
    <ds:schemaRef ds:uri="http://schemas.microsoft.com/office/2006/documentManagement/types"/>
    <ds:schemaRef ds:uri="http://purl.org/dc/elements/1.1/"/>
    <ds:schemaRef ds:uri="33686514-4954-430f-9777-d7949ff8c605"/>
    <ds:schemaRef ds:uri="http://purl.org/dc/terms/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7815C017-F059-461C-B5CA-F74FA829193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ED0EEF4-37C5-4405-8B99-5591D75D68F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3686514-4954-430f-9777-d7949ff8c6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Modern helena presentation</Template>
  <TotalTime>254</TotalTime>
  <Words>637</Words>
  <Application>Microsoft Office PowerPoint</Application>
  <PresentationFormat>Widescreen</PresentationFormat>
  <Paragraphs>46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Cambria Math</vt:lpstr>
      <vt:lpstr>Neue Haas Grotesk Text Pro</vt:lpstr>
      <vt:lpstr>Helena</vt:lpstr>
      <vt:lpstr>Replication Project: “Household education gaps and gender role attitudes”  Giani, Hope &amp; Skorge (2022)</vt:lpstr>
      <vt:lpstr>Original Paper - Introduction </vt:lpstr>
      <vt:lpstr>Data – European Social Survey</vt:lpstr>
      <vt:lpstr>Original Model:  Gaussian Kernel Interflex  (Hainmueller, Mummolo and Xu, 2019)</vt:lpstr>
      <vt:lpstr>Main Findings </vt:lpstr>
      <vt:lpstr>My Contribution: Linear Interflex Model </vt:lpstr>
      <vt:lpstr>My Findings</vt:lpstr>
      <vt:lpstr>Q &amp; 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Matilda Tomatis</dc:creator>
  <cp:lastModifiedBy>Matilda Tomatis</cp:lastModifiedBy>
  <cp:revision>3</cp:revision>
  <dcterms:created xsi:type="dcterms:W3CDTF">2026-03-29T09:24:15Z</dcterms:created>
  <dcterms:modified xsi:type="dcterms:W3CDTF">2026-03-29T13:39:11Z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0x0101007BFA910380E6A0408EB5EA3C9000A250</vt:lpwstr>
  </property>
</Properties>
</file>