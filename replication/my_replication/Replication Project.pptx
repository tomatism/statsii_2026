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1509" r:id="rId7"/>
    <p:sldId id="1515" r:id="rId8"/>
    <p:sldId id="263" r:id="rId9"/>
    <p:sldId id="265" r:id="rId10"/>
    <p:sldId id="151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BB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89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556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5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2F52-289F-20D6-EECC-2811BB7E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0E7D7-6AE1-54FB-CBE5-028A1C487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D599A-955C-2927-A538-D80EE2028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D18AC-D635-800D-F20A-707F02D7D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249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83C42-4D77-7097-E9FD-73EE1819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C9553-86FE-D407-5790-F4B69F500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D2E55-EA4C-E00A-6172-F74C5FE6C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69962-62C2-0322-2BB4-D80D65714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62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51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whats-working-parent-do-when-office-opens-schoolcamp-reder-sheik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br.org/2020/11/a-way-forward-for-working-parent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008" y="4860789"/>
            <a:ext cx="7515982" cy="139033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2800" dirty="0"/>
              <a:t>Replication Project:</a:t>
            </a:r>
            <a:br>
              <a:rPr lang="en-US" sz="2000" dirty="0"/>
            </a:br>
            <a:r>
              <a:rPr lang="en-US" sz="4500" dirty="0"/>
              <a:t>“</a:t>
            </a:r>
            <a:r>
              <a:rPr lang="en-GB" sz="4500" i="1" dirty="0"/>
              <a:t>Household education gaps and gender role attitudes” </a:t>
            </a:r>
            <a:br>
              <a:rPr lang="en-GB" sz="2000" i="1" dirty="0"/>
            </a:br>
            <a:r>
              <a:rPr lang="en-GB" sz="2800" i="1" dirty="0"/>
              <a:t>Giani, Hope &amp; Skorge (2022)</a:t>
            </a:r>
            <a:endParaRPr lang="en-US" sz="2800" i="1" dirty="0"/>
          </a:p>
        </p:txBody>
      </p:sp>
      <p:pic>
        <p:nvPicPr>
          <p:cNvPr id="7" name="Picture Placeholder 6">
            <a:hlinkClick r:id="rId3"/>
            <a:extLst>
              <a:ext uri="{FF2B5EF4-FFF2-40B4-BE49-F238E27FC236}">
                <a16:creationId xmlns:a16="http://schemas.microsoft.com/office/drawing/2014/main" id="{AA6BCCFE-82B9-38D9-8EAD-75148B80BD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29" b="2584"/>
          <a:stretch>
            <a:fillRect/>
          </a:stretch>
        </p:blipFill>
        <p:spPr>
          <a:xfrm>
            <a:off x="-1" y="10"/>
            <a:ext cx="12192000" cy="4635122"/>
          </a:xfr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82581" y="6476777"/>
            <a:ext cx="3109419" cy="381213"/>
          </a:xfrm>
        </p:spPr>
        <p:txBody>
          <a:bodyPr>
            <a:normAutofit/>
          </a:bodyPr>
          <a:lstStyle/>
          <a:p>
            <a:r>
              <a:rPr lang="en-US" dirty="0"/>
              <a:t>Presented by </a:t>
            </a:r>
            <a:r>
              <a:rPr lang="en-US" b="1" i="1" dirty="0"/>
              <a:t>Matilda Tomatis </a:t>
            </a:r>
            <a:r>
              <a:rPr lang="en-US" dirty="0"/>
              <a:t>​</a:t>
            </a: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BA90D2A8-51ED-5929-20B1-7C4CB31707A3}"/>
              </a:ext>
            </a:extLst>
          </p:cNvPr>
          <p:cNvSpPr txBox="1">
            <a:spLocks/>
          </p:cNvSpPr>
          <p:nvPr/>
        </p:nvSpPr>
        <p:spPr>
          <a:xfrm>
            <a:off x="1" y="6476787"/>
            <a:ext cx="3109419" cy="381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Applied Statistical Analysis II​</a:t>
            </a:r>
          </a:p>
        </p:txBody>
      </p:sp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07923"/>
            <a:ext cx="7931585" cy="920730"/>
          </a:xfrm>
        </p:spPr>
        <p:txBody>
          <a:bodyPr>
            <a:normAutofit/>
          </a:bodyPr>
          <a:lstStyle/>
          <a:p>
            <a:r>
              <a:rPr lang="en-US" sz="4000" dirty="0"/>
              <a:t>Original Paper -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009395"/>
            <a:ext cx="8467558" cy="402761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It’s a 2022 paper, published in the </a:t>
            </a:r>
            <a:r>
              <a:rPr lang="en-GB" i="1" dirty="0"/>
              <a:t>Political Science Research and Methods </a:t>
            </a:r>
            <a:r>
              <a:rPr lang="en-GB" dirty="0"/>
              <a:t>by Giani, Hope &amp; Skorge.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investigates how educational gap within the household mediate one’s gender childcare bias, hereby expressed as the difference in approval of a mother versus a father having a full-time job while having children under the age of three.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findings align with a resource-bargaining framework.</a:t>
            </a:r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10" y="553615"/>
            <a:ext cx="3595634" cy="1757505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Data – European Social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491" y="1632828"/>
            <a:ext cx="4632115" cy="4671557"/>
          </a:xfrm>
        </p:spPr>
        <p:txBody>
          <a:bodyPr anchor="t">
            <a:normAutofit fontScale="92500" lnSpcReduction="20000"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</a:rPr>
              <a:t>2018 ESS (Round 9) data, </a:t>
            </a:r>
            <a:r>
              <a:rPr lang="en-US" sz="1800" dirty="0"/>
              <a:t>face-to-face </a:t>
            </a:r>
            <a:r>
              <a:rPr lang="en-US" sz="1800" b="0" i="0" u="none" strike="noStrike" dirty="0">
                <a:effectLst/>
              </a:rPr>
              <a:t>survey carried out in 19 EU countries.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800" u="sng" dirty="0"/>
              <a:t>Dependent variable of interest</a:t>
            </a:r>
            <a:r>
              <a:rPr lang="en-US" sz="1800" dirty="0"/>
              <a:t>: </a:t>
            </a:r>
            <a:r>
              <a:rPr lang="en-US" sz="1800" i="1" dirty="0"/>
              <a:t>Approval</a:t>
            </a:r>
            <a:r>
              <a:rPr lang="en-US" sz="1800" dirty="0"/>
              <a:t>. On a scale from 0 (Strongly approve) to 4 (Strongly Disapprove).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</a:rPr>
              <a:t>M</a:t>
            </a:r>
            <a:r>
              <a:rPr lang="en-US" sz="1800" b="0" i="0" u="sng" strike="noStrike" dirty="0">
                <a:effectLst/>
              </a:rPr>
              <a:t>ain independent variables</a:t>
            </a:r>
            <a:r>
              <a:rPr lang="en-US" sz="1800" b="0" i="0" u="none" strike="noStrike" dirty="0">
                <a:effectLst/>
              </a:rPr>
              <a:t>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b="0" i="1" u="none" strike="noStrike" dirty="0">
                <a:effectLst/>
              </a:rPr>
              <a:t>Vignette Gender</a:t>
            </a:r>
            <a:r>
              <a:rPr lang="en-US" sz="1800" b="0" u="none" strike="noStrike" dirty="0">
                <a:effectLst/>
              </a:rPr>
              <a:t>: half of the respondents were asked about a mother and half about a father, binary variable.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800" b="0" i="1" u="none" strike="noStrike" dirty="0">
                <a:effectLst/>
              </a:rPr>
              <a:t>Household Education Gap: </a:t>
            </a:r>
            <a:r>
              <a:rPr lang="en-US" sz="1800" b="0" u="none" strike="noStrike" dirty="0">
                <a:effectLst/>
              </a:rPr>
              <a:t>the difference in the respondent education minus that of their partner, discrete variable spanning from -6 to +6. </a:t>
            </a:r>
            <a:endParaRPr lang="en-US" sz="1800" b="0" i="1" u="none" strike="noStrike" dirty="0">
              <a:effectLst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endParaRPr lang="en-US" b="0" i="1" u="none" strike="noStrike" dirty="0">
              <a:effectLst/>
            </a:endParaRPr>
          </a:p>
        </p:txBody>
      </p:sp>
      <p:pic>
        <p:nvPicPr>
          <p:cNvPr id="10" name="Picture 9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03CD8658-61A6-0A58-4ADE-9D6FA4611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832" y="3649879"/>
            <a:ext cx="6236677" cy="3118339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ECE52B-76A7-B9BA-9D18-0B5338E5E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62926" y="566708"/>
            <a:ext cx="6440488" cy="284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FD0A-62AC-37B7-34A0-BDB23D9C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4060D-7D6C-3838-2A0F-A97F1C17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96" y="208756"/>
            <a:ext cx="6133720" cy="1197929"/>
          </a:xfrm>
        </p:spPr>
        <p:txBody>
          <a:bodyPr anchor="t">
            <a:noAutofit/>
          </a:bodyPr>
          <a:lstStyle/>
          <a:p>
            <a:pPr algn="ctr"/>
            <a:r>
              <a:rPr lang="en-GB" sz="2700" dirty="0"/>
              <a:t>Original Model: </a:t>
            </a:r>
            <a:br>
              <a:rPr lang="en-GB" sz="2700" dirty="0"/>
            </a:br>
            <a:r>
              <a:rPr lang="en-GB" sz="2700" dirty="0"/>
              <a:t>Gaussian Kernel </a:t>
            </a:r>
            <a:r>
              <a:rPr lang="en-GB" sz="2700" dirty="0" err="1"/>
              <a:t>Interflex</a:t>
            </a:r>
            <a:r>
              <a:rPr lang="en-GB" sz="2700" dirty="0"/>
              <a:t> </a:t>
            </a:r>
            <a:br>
              <a:rPr lang="en-GB" sz="2700" dirty="0"/>
            </a:br>
            <a:r>
              <a:rPr lang="en-GB" sz="2700" dirty="0"/>
              <a:t>(</a:t>
            </a:r>
            <a:r>
              <a:rPr lang="en-GB" sz="2700" dirty="0" err="1"/>
              <a:t>Hainmueller</a:t>
            </a:r>
            <a:r>
              <a:rPr lang="en-GB" sz="2700" dirty="0"/>
              <a:t>, </a:t>
            </a:r>
            <a:r>
              <a:rPr lang="en-GB" sz="2700" dirty="0" err="1"/>
              <a:t>Mummolo</a:t>
            </a:r>
            <a:r>
              <a:rPr lang="en-GB" sz="2700" dirty="0"/>
              <a:t> and Xu, 2019)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800E4-E8BD-5E5A-9CBA-4844F548DCA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85195" y="1731188"/>
                <a:ext cx="5910805" cy="5033803"/>
              </a:xfrm>
            </p:spPr>
            <p:txBody>
              <a:bodyPr anchor="t">
                <a:normAutofit fontScale="92500" lnSpcReduction="20000"/>
              </a:bodyPr>
              <a:lstStyle/>
              <a:p>
                <a:pPr lvl="1" fontAlgn="base"/>
                <a:r>
                  <a:rPr lang="en-GB" sz="1900" dirty="0"/>
                  <a:t>The model allows the gender childcare bias to vary non-monotonically across levels of the household educational gap:</a:t>
                </a:r>
              </a:p>
              <a:p>
                <a:pPr lvl="1" fontAlgn="base"/>
                <a:endParaRPr lang="en-GB" sz="2100" dirty="0"/>
              </a:p>
              <a:p>
                <a:pPr lvl="1"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	+ </m:t>
                      </m:r>
                      <m:r>
                        <a:rPr lang="el-GR" sz="2100" b="1" i="1" dirty="0" smtClean="0"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(∆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}) 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} + </m:t>
                      </m:r>
                      <m:r>
                        <a:rPr lang="el-GR" sz="2100" b="1" i="1" dirty="0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l-GR" sz="2100" b="1" i="1" dirty="0" smtClean="0"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}	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} = </m:t>
                      </m:r>
                      <m:r>
                        <a:rPr lang="el-GR" sz="2100" b="1" i="1" dirty="0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(∆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}) + 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(∆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}) </m:t>
                      </m:r>
                      <m:r>
                        <a:rPr lang="it-IT" sz="21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100" b="1" i="1" dirty="0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GB" sz="2100" dirty="0"/>
              </a:p>
              <a:p>
                <a:pPr lvl="1" fontAlgn="base"/>
                <a:endParaRPr lang="it-IT" sz="2100" b="1" dirty="0"/>
              </a:p>
              <a:p>
                <a:pPr lvl="1" fontAlgn="base"/>
                <a:endParaRPr lang="it-IT" sz="2100" b="1" dirty="0"/>
              </a:p>
              <a:p>
                <a:pPr lvl="1" fontAlgn="base"/>
                <a:r>
                  <a:rPr lang="en-GB" sz="1900" dirty="0"/>
                  <a:t>The key quantity of interest is </a:t>
                </a:r>
                <a14:m>
                  <m:oMath xmlns:m="http://schemas.openxmlformats.org/officeDocument/2006/math">
                    <m:r>
                      <a:rPr lang="en-GB" sz="1900" b="1" i="1" dirty="0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1900" b="1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b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sz="1900" dirty="0"/>
                  <a:t>: </a:t>
                </a:r>
                <a:r>
                  <a:rPr lang="it-IT" sz="1900" dirty="0"/>
                  <a:t> </a:t>
                </a:r>
                <a:r>
                  <a:rPr lang="en-GB" sz="1900" dirty="0"/>
                  <a:t>the marginal gender childcare bias, the difference in approval between a mother and a father holding a full-time job, conditional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90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sz="190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90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90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it-IT" sz="19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sz="1900" dirty="0"/>
              </a:p>
              <a:p>
                <a:pPr lvl="1" fontAlgn="base"/>
                <a:r>
                  <a:rPr lang="en-GB" sz="1900" dirty="0"/>
                  <a:t>The sample is split by respondent gender to assess whether the pattern differs between men and women.</a:t>
                </a:r>
              </a:p>
              <a:p>
                <a:pPr lvl="1" fontAlgn="base"/>
                <a:endParaRPr lang="en-GB" sz="1900" dirty="0"/>
              </a:p>
              <a:p>
                <a:pPr lvl="1" fontAlgn="base"/>
                <a:endParaRPr lang="en-GB" dirty="0"/>
              </a:p>
              <a:p>
                <a:pPr marL="742950" lvl="1" indent="-285750" fontAlgn="base">
                  <a:buFont typeface="Arial" panose="020B0604020202020204" pitchFamily="34" charset="0"/>
                  <a:buChar char="•"/>
                </a:pPr>
                <a:endParaRPr lang="en-US" b="0" u="none" strike="noStrike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800E4-E8BD-5E5A-9CBA-4844F548DC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85195" y="1731188"/>
                <a:ext cx="5910805" cy="5033803"/>
              </a:xfrm>
              <a:blipFill>
                <a:blip r:embed="rId3"/>
                <a:stretch>
                  <a:fillRect t="-726" r="-9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38CAA340-01A8-0FBC-9DA3-2452E735D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85133" y="380976"/>
            <a:ext cx="4265116" cy="609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6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44" y="4162318"/>
            <a:ext cx="2953618" cy="884244"/>
          </a:xfrm>
        </p:spPr>
        <p:txBody>
          <a:bodyPr anchor="t">
            <a:normAutofit/>
          </a:bodyPr>
          <a:lstStyle/>
          <a:p>
            <a:r>
              <a:rPr lang="en-US" dirty="0"/>
              <a:t>Main Findings </a:t>
            </a:r>
          </a:p>
        </p:txBody>
      </p:sp>
      <p:pic>
        <p:nvPicPr>
          <p:cNvPr id="12" name="Picture Placeholder 11" descr="A comparison of a graph&#10;&#10;AI-generated content may be incorrect.">
            <a:extLst>
              <a:ext uri="{FF2B5EF4-FFF2-40B4-BE49-F238E27FC236}">
                <a16:creationId xmlns:a16="http://schemas.microsoft.com/office/drawing/2014/main" id="{3855C90D-4023-1515-B98B-0CF08DE052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082" r="-823" b="7775"/>
          <a:stretch>
            <a:fillRect/>
          </a:stretch>
        </p:blipFill>
        <p:spPr>
          <a:xfrm>
            <a:off x="1709194" y="-174918"/>
            <a:ext cx="8773612" cy="4337236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17762" y="4162318"/>
            <a:ext cx="8532278" cy="255099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GB" dirty="0"/>
              <a:t>For </a:t>
            </a:r>
            <a:r>
              <a:rPr lang="en-GB" i="1" dirty="0"/>
              <a:t>female respondents, </a:t>
            </a:r>
            <a:r>
              <a:rPr lang="en-GB" dirty="0"/>
              <a:t>as the household education gap increase in their favour, their gender childcare bias tends to diminish.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GB" dirty="0"/>
              <a:t>For </a:t>
            </a:r>
            <a:r>
              <a:rPr lang="en-GB" i="1" dirty="0"/>
              <a:t>male respondents </a:t>
            </a:r>
            <a:r>
              <a:rPr lang="en-GB" dirty="0"/>
              <a:t>the opposite trend is observed: as the educational gap increases in their favour, they tend to have a bigger gender bias.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GB" dirty="0"/>
              <a:t>These findings are in line with a </a:t>
            </a:r>
            <a:r>
              <a:rPr lang="en-GB" i="1" u="sng" dirty="0"/>
              <a:t>resource-bargaining framework</a:t>
            </a:r>
            <a:r>
              <a:rPr lang="en-GB" dirty="0"/>
              <a:t>: women who out-educate their partners hold more power in the household and hold more egalitarian attitudes; men show the opposite pattern.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My Contribution:</a:t>
            </a:r>
            <a:br>
              <a:rPr lang="en-US" dirty="0"/>
            </a:br>
            <a:r>
              <a:rPr lang="en-US" dirty="0"/>
              <a:t>Linear </a:t>
            </a:r>
            <a:r>
              <a:rPr lang="en-US" dirty="0" err="1"/>
              <a:t>Interflex</a:t>
            </a:r>
            <a:br>
              <a:rPr lang="en-US" dirty="0"/>
            </a:br>
            <a:r>
              <a:rPr lang="en-US" dirty="0"/>
              <a:t>Model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AD71A6-1036-A099-9BDF-27C11F75648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5016184" y="550217"/>
                <a:ext cx="6561138" cy="5759450"/>
              </a:xfrm>
            </p:spPr>
            <p:txBody>
              <a:bodyPr>
                <a:normAutofit/>
              </a:bodyPr>
              <a:lstStyle/>
              <a:p>
                <a:r>
                  <a:rPr lang="en-GB" sz="1800" dirty="0"/>
                  <a:t>The Gaussian kernel model is computationally intensive and its output, a smooth function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it-IT" sz="18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1800" dirty="0"/>
                  <a:t>is not straightforward to interpret. </a:t>
                </a:r>
              </a:p>
              <a:p>
                <a:r>
                  <a:rPr lang="en-GB" sz="1800" dirty="0"/>
                  <a:t>Given that the original results appeared linear, I fit a </a:t>
                </a:r>
                <a:r>
                  <a:rPr lang="en-GB" sz="1800" i="1" u="sng" dirty="0"/>
                  <a:t>linear </a:t>
                </a:r>
                <a:r>
                  <a:rPr lang="en-GB" sz="1800" i="1" u="sng" dirty="0" err="1"/>
                  <a:t>interflex</a:t>
                </a:r>
                <a:r>
                  <a:rPr lang="en-GB" sz="1800" i="1" u="sng" dirty="0"/>
                  <a:t> model</a:t>
                </a:r>
                <a:r>
                  <a:rPr lang="en-GB" sz="1800" dirty="0"/>
                  <a:t> retaining the same covariates and country fixed effects, trading flexibility for parsimony and interpretability.</a:t>
                </a:r>
              </a:p>
              <a:p>
                <a:endParaRPr lang="en-GB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latin typeface="Cambria Math" panose="02040503050406030204" pitchFamily="18" charset="0"/>
                        </a:rPr>
                        <m:t>𝒀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it-IT" sz="1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b="1" i="1" dirty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l-GR" sz="1800" b="1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l-GR" sz="1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800" b="1" i="1" dirty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l-GR" sz="1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l-GR" sz="1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800" b="1" i="1" dirty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l-GR" sz="18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l-GR" sz="1800" b="1" i="0" dirty="0"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+ </m:t>
                      </m:r>
                    </m:oMath>
                  </m:oMathPara>
                </a14:m>
                <a:endParaRPr lang="it-IT" sz="18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800" b="1" i="1" dirty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it-IT" sz="18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el-GR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>
                              <a:latin typeface="Cambria Math" panose="02040503050406030204" pitchFamily="18" charset="0"/>
                            </a:rPr>
                            <m:t>𝑩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it-IT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dirty="0" err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1800" b="1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800" b="1" i="1" dirty="0" err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l-GR" sz="1800" b="1" i="0" dirty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GB" sz="1800" b="1" i="1" dirty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it-IT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dirty="0" err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1800" b="1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800" b="1" i="1" dirty="0" err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</m:e>
                      </m:d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l-GR" sz="1800" b="1" i="1" dirty="0"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𝒁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l-GR" sz="1800" b="1" i="1" dirty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800" b="1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l-GR" sz="1800" b="1" i="1" dirty="0">
                          <a:latin typeface="Cambria Math" panose="02040503050406030204" pitchFamily="18" charset="0"/>
                        </a:rPr>
                        <m:t>𝜺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1" i="1" dirty="0" err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it-IT" sz="18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sz="1800" b="1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GB" sz="1800" dirty="0"/>
                  <a:t>In this specification our focus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800" b="1" i="1" dirty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it-IT" sz="18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GB" sz="1800" dirty="0"/>
                  <a:t>, the marginal gender childcare bias given a specific level of household educational gap.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AD71A6-1036-A099-9BDF-27C11F756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5016184" y="550217"/>
                <a:ext cx="6561138" cy="5759450"/>
              </a:xfrm>
              <a:blipFill>
                <a:blip r:embed="rId2"/>
                <a:stretch>
                  <a:fillRect l="-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C5B438A-496E-B6F7-EF65-7DF7EB1A3A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" b="202"/>
          <a:stretch>
            <a:fillRect/>
          </a:stretch>
        </p:blipFill>
        <p:spPr>
          <a:xfrm>
            <a:off x="731521" y="2118167"/>
            <a:ext cx="3490176" cy="4398380"/>
          </a:xfrm>
        </p:spPr>
      </p:pic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90C6-BC6A-4C3E-DBF4-14696182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F5DC-E247-B9F7-F86A-17C1B219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89" y="3181672"/>
            <a:ext cx="3595634" cy="686847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My Findings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CF3B9-657D-8384-909A-485B181A525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5937814" y="3675717"/>
                <a:ext cx="6254186" cy="2049131"/>
              </a:xfrm>
            </p:spPr>
            <p:txBody>
              <a:bodyPr anchor="t">
                <a:normAutofit/>
              </a:bodyPr>
              <a:lstStyle/>
              <a:p>
                <a:pPr marL="285750" indent="-285750" rtl="0" fontAlgn="base">
                  <a:buFont typeface="Arial" panose="020B0604020202020204" pitchFamily="34" charset="0"/>
                  <a:buChar char="•"/>
                </a:pPr>
                <a:r>
                  <a:rPr lang="en-US" dirty="0"/>
                  <a:t>The two models reports identical results for female respondents and strongly similar values for males </a:t>
                </a:r>
              </a:p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en-US" dirty="0"/>
                  <a:t>Specifically, we find that has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1" i="1" dirty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 of -0,045 for women and 0,026 for men; the base value, when the educational gap is equal to 0, is similar for both genders, validating the </a:t>
                </a:r>
                <a:r>
                  <a:rPr lang="en-US" i="1" u="sng" dirty="0"/>
                  <a:t>resource-bargaining</a:t>
                </a:r>
                <a:r>
                  <a:rPr lang="en-US" dirty="0"/>
                  <a:t> framework .</a:t>
                </a:r>
              </a:p>
              <a:p>
                <a:pPr rtl="0" fontAlgn="base"/>
                <a:endParaRPr lang="en-US" dirty="0"/>
              </a:p>
              <a:p>
                <a:pPr lvl="1" fontAlgn="base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CF3B9-657D-8384-909A-485B181A5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5937814" y="3675717"/>
                <a:ext cx="6254186" cy="2049131"/>
              </a:xfrm>
              <a:blipFill>
                <a:blip r:embed="rId3"/>
                <a:stretch>
                  <a:fillRect l="-390" r="-12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comparison of a graph&#10;&#10;AI-generated content may be incorrect.">
            <a:extLst>
              <a:ext uri="{FF2B5EF4-FFF2-40B4-BE49-F238E27FC236}">
                <a16:creationId xmlns:a16="http://schemas.microsoft.com/office/drawing/2014/main" id="{FB6BB1D4-83A5-0528-B248-C2AA9819A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" t="2492" b="1176"/>
          <a:stretch>
            <a:fillRect/>
          </a:stretch>
        </p:blipFill>
        <p:spPr>
          <a:xfrm>
            <a:off x="5937813" y="22158"/>
            <a:ext cx="6254186" cy="3159514"/>
          </a:xfrm>
          <a:ln>
            <a:noFill/>
          </a:ln>
        </p:spPr>
      </p:pic>
      <p:pic>
        <p:nvPicPr>
          <p:cNvPr id="11" name="Picture 10" descr="A table of linear equations&#10;&#10;AI-generated content may be incorrect.">
            <a:extLst>
              <a:ext uri="{FF2B5EF4-FFF2-40B4-BE49-F238E27FC236}">
                <a16:creationId xmlns:a16="http://schemas.microsoft.com/office/drawing/2014/main" id="{F723567A-54BA-916D-C105-5DBD1A4296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2" r="1609"/>
          <a:stretch>
            <a:fillRect/>
          </a:stretch>
        </p:blipFill>
        <p:spPr>
          <a:xfrm>
            <a:off x="0" y="785800"/>
            <a:ext cx="5937813" cy="4791744"/>
          </a:xfrm>
          <a:prstGeom prst="rect">
            <a:avLst/>
          </a:prstGeom>
          <a:ln>
            <a:solidFill>
              <a:srgbClr val="BBBBBB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05D789-77BC-3F5B-8035-F9E3DFC169D2}"/>
              </a:ext>
            </a:extLst>
          </p:cNvPr>
          <p:cNvSpPr txBox="1"/>
          <p:nvPr/>
        </p:nvSpPr>
        <p:spPr>
          <a:xfrm>
            <a:off x="366532" y="5724848"/>
            <a:ext cx="11458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/>
              <a:t>In conclusion: </a:t>
            </a:r>
            <a:r>
              <a:rPr lang="en-GB" dirty="0"/>
              <a:t>The results are near-identical across both specifications, suggesting the added complexity of the kernel model was unnecessary.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7858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6681B-5E1B-BD2B-6960-3B46EFE8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  <p:pic>
        <p:nvPicPr>
          <p:cNvPr id="8" name="Picture Placeholder 7" descr="A group of people using their phones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2E46BC9C-1EB3-5F48-CE08-BECE1AB1D71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4" b="1365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686514-4954-430f-9777-d7949ff8c6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FA910380E6A0408EB5EA3C9000A250" ma:contentTypeVersion="5" ma:contentTypeDescription="Create a new document." ma:contentTypeScope="" ma:versionID="dec3b180a38f21f54b0d1ad9263fe85c">
  <xsd:schema xmlns:xsd="http://www.w3.org/2001/XMLSchema" xmlns:xs="http://www.w3.org/2001/XMLSchema" xmlns:p="http://schemas.microsoft.com/office/2006/metadata/properties" xmlns:ns3="33686514-4954-430f-9777-d7949ff8c605" targetNamespace="http://schemas.microsoft.com/office/2006/metadata/properties" ma:root="true" ma:fieldsID="9f66fabd7b85cc044625280f22f74cd2" ns3:_="">
    <xsd:import namespace="33686514-4954-430f-9777-d7949ff8c60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686514-4954-430f-9777-d7949ff8c60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A2E174-8201-44C8-8E86-D532E6482AAF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33686514-4954-430f-9777-d7949ff8c605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815C017-F059-461C-B5CA-F74FA82919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D0EEF4-37C5-4405-8B99-5591D75D68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686514-4954-430f-9777-d7949ff8c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helena presentation</Template>
  <TotalTime>268</TotalTime>
  <Words>637</Words>
  <Application>Microsoft Office PowerPoint</Application>
  <PresentationFormat>Widescreen</PresentationFormat>
  <Paragraphs>46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Cambria Math</vt:lpstr>
      <vt:lpstr>Neue Haas Grotesk Text Pro</vt:lpstr>
      <vt:lpstr>Helena</vt:lpstr>
      <vt:lpstr>Replication Project: “Household education gaps and gender role attitudes”  Giani, Hope &amp; Skorge (2022)</vt:lpstr>
      <vt:lpstr>Original Paper - Introduction </vt:lpstr>
      <vt:lpstr>Data – European Social Survey</vt:lpstr>
      <vt:lpstr>Original Model:  Gaussian Kernel Interflex  (Hainmueller, Mummolo and Xu, 2019)</vt:lpstr>
      <vt:lpstr>Main Findings </vt:lpstr>
      <vt:lpstr>My Contribution: Linear Interflex Model </vt:lpstr>
      <vt:lpstr>My Findings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Matilda Tomatis</dc:creator>
  <cp:lastModifiedBy>Matilda Tomatis</cp:lastModifiedBy>
  <cp:revision>6</cp:revision>
  <dcterms:created xsi:type="dcterms:W3CDTF">2026-03-29T09:24:15Z</dcterms:created>
  <dcterms:modified xsi:type="dcterms:W3CDTF">2026-03-29T14:08:53Z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0x0101007BFA910380E6A0408EB5EA3C9000A250</vt:lpwstr>
  </property>
</Properties>
</file>